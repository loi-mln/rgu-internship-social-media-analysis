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32"/>
    <p:restoredTop sz="91429"/>
  </p:normalViewPr>
  <p:slideViewPr>
    <p:cSldViewPr snapToGrid="0" snapToObjects="1">
      <p:cViewPr>
        <p:scale>
          <a:sx n="127" d="100"/>
          <a:sy n="127" d="100"/>
        </p:scale>
        <p:origin x="-2856" y="-1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B82F6"/>
                </a:solidFill>
                <a:latin typeface="Calibri"/>
              </a:defRPr>
            </a:pPr>
            <a:r>
              <a:t>CROSS-PLATFORM STUDY AND VISUALIZATION OF DISCURSIVE POLARIZATION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1D4ED8"/>
                </a:solidFill>
                <a:latin typeface="Calibri"/>
              </a:defRPr>
            </a:pPr>
            <a:r>
              <a:t>Modeling In-Group vs Out-Group Tribal Opposition Mechanisms on Social Media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1D4ED8"/>
                </a:solidFill>
                <a:latin typeface="Calibri"/>
              </a:defRPr>
            </a:pPr>
            <a:r>
              <a:t>MENTION : CONFIDENTIEL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rPr dirty="0"/>
              <a:t>Student: Milan LOI | BUT Informatique (</a:t>
            </a:r>
            <a:r>
              <a:rPr dirty="0" err="1"/>
              <a:t>Parcours</a:t>
            </a:r>
            <a:r>
              <a:rPr dirty="0"/>
              <a:t> </a:t>
            </a:r>
            <a:r>
              <a:rPr dirty="0" err="1"/>
              <a:t>Réalisation</a:t>
            </a:r>
            <a:r>
              <a:rPr dirty="0"/>
              <a:t> </a:t>
            </a:r>
            <a:r>
              <a:rPr dirty="0" err="1"/>
              <a:t>d'applications</a:t>
            </a:r>
            <a:r>
              <a:rPr dirty="0"/>
              <a:t>)</a:t>
            </a:r>
            <a:br>
              <a:rPr dirty="0"/>
            </a:br>
            <a:r>
              <a:rPr dirty="0"/>
              <a:t>University: Université de Limoges - IUT de Limoges, Département Informatique</a:t>
            </a:r>
            <a:br>
              <a:rPr dirty="0"/>
            </a:br>
            <a:r>
              <a:rPr dirty="0"/>
              <a:t>Host Institution: Robert Gordon University (RGU), School of Computing Science and Digital Media</a:t>
            </a:r>
          </a:p>
          <a:p>
            <a:pPr algn="ctr">
              <a:defRPr sz="1050" i="1">
                <a:solidFill>
                  <a:srgbClr val="6B7280"/>
                </a:solidFill>
                <a:latin typeface="Calibri"/>
              </a:defRPr>
            </a:pPr>
            <a:r>
              <a:rPr dirty="0"/>
              <a:t>Host Supervisor: Dr. Shahana Bano (RGU) | Academic Advisor: M. </a:t>
            </a:r>
            <a:r>
              <a:rPr lang="fr-FR"/>
              <a:t>Jonathan Paris </a:t>
            </a:r>
            <a:r>
              <a:t>(</a:t>
            </a:r>
            <a:r>
              <a:rPr dirty="0"/>
              <a:t>IUT de Limoges)</a:t>
            </a:r>
            <a:br>
              <a:rPr dirty="0"/>
            </a:br>
            <a:r>
              <a:rPr dirty="0"/>
              <a:t>Internship Period: April </a:t>
            </a:r>
            <a:r>
              <a:rPr lang="fr-FR" dirty="0"/>
              <a:t>13</a:t>
            </a:r>
            <a:r>
              <a:rPr dirty="0"/>
              <a:t>, 2026 – June 1</a:t>
            </a:r>
            <a:r>
              <a:rPr lang="fr-FR" dirty="0"/>
              <a:t>9</a:t>
            </a:r>
            <a:r>
              <a:rPr dirty="0"/>
              <a:t>, 2026 (10 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Defense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Part I: Context &amp; Preparatory Steps</a:t>
            </a:r>
          </a:p>
          <a:p>
            <a:pPr>
              <a:spcBef>
                <a:spcPts val="6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1. Introduction &amp; Research Question: </a:t>
            </a:r>
            <a:r>
              <a:rPr sz="1050" b="0">
                <a:solidFill>
                  <a:srgbClr val="1F2937"/>
                </a:solidFill>
                <a:latin typeface="Calibri"/>
              </a:rPr>
              <a:t>The societal threat of echo chambers and verbal hostility.</a:t>
            </a:r>
          </a:p>
          <a:p>
            <a:pPr>
              <a:spcBef>
                <a:spcPts val="6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2. Host Institution Profile: </a:t>
            </a:r>
            <a:r>
              <a:rPr sz="1050" b="0">
                <a:solidFill>
                  <a:srgbClr val="1F2937"/>
                </a:solidFill>
                <a:latin typeface="Calibri"/>
              </a:rPr>
              <a:t>NLP and Social Data Science Research Lab at Robert Gordon University.</a:t>
            </a:r>
          </a:p>
          <a:p>
            <a:pPr>
              <a:spcBef>
                <a:spcPts val="6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3. Comparative Solution Analysis: </a:t>
            </a:r>
            <a:r>
              <a:rPr sz="1050" b="0">
                <a:solidFill>
                  <a:srgbClr val="1F2937"/>
                </a:solidFill>
                <a:latin typeface="Calibri"/>
              </a:rPr>
              <a:t>Justifying the transition from lexical baselines to deep context models.</a:t>
            </a:r>
          </a:p>
          <a:p>
            <a:pPr>
              <a:spcBef>
                <a:spcPts val="6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4. System Architecture &amp; Ingestion: </a:t>
            </a:r>
            <a:r>
              <a:rPr sz="1050" b="0">
                <a:solidFill>
                  <a:srgbClr val="1F2937"/>
                </a:solidFill>
                <a:latin typeface="Calibri"/>
              </a:rPr>
              <a:t>Building the processing pipeline, cleaning, and language filtering.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Part II: Execution &amp; Reflexive Review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5. Modality &amp; Topological Graph Models: </a:t>
            </a:r>
            <a:r>
              <a:rPr sz="1050" b="0">
                <a:solidFill>
                  <a:srgbClr val="1F2937"/>
                </a:solidFill>
                <a:latin typeface="Calibri"/>
              </a:rPr>
              <a:t>CLIP zero-shot alignment and Louvain modularity clustering.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6. Technical Challenge &amp; Adaptive Resolution: </a:t>
            </a:r>
            <a:r>
              <a:rPr sz="1050" b="0">
                <a:solidFill>
                  <a:srgbClr val="1F2937"/>
                </a:solidFill>
                <a:latin typeface="Calibri"/>
              </a:rPr>
              <a:t>Resolving Reddit API PRAW authentication blocks via Hugging Face.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7. Empirical Findings &amp; Visual Dashboard: </a:t>
            </a:r>
            <a:r>
              <a:rPr sz="1050" b="0">
                <a:solidFill>
                  <a:srgbClr val="1F2937"/>
                </a:solidFill>
                <a:latin typeface="Calibri"/>
              </a:rPr>
              <a:t>Verifying polarization score trends and WebGL dashboard layers.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8. BUT Skills &amp; Critical Reflection: </a:t>
            </a:r>
            <a:r>
              <a:rPr sz="1050" b="0">
                <a:solidFill>
                  <a:srgbClr val="1F2937"/>
                </a:solidFill>
                <a:latin typeface="Calibri"/>
              </a:rPr>
              <a:t>Self-evaluation of the four target BUT competencies and SWOT matrix.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9. AI Responsibility Disclosure: </a:t>
            </a:r>
            <a:r>
              <a:rPr sz="1050" b="0">
                <a:solidFill>
                  <a:srgbClr val="1F2937"/>
                </a:solidFill>
                <a:latin typeface="Calibri"/>
              </a:rPr>
              <a:t>Detailed logging of prompts and model utilization parameters (&lt;15%).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1. Introduction &amp; Research Problématique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Societal Context &amp; Rising Polarisation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Tribal Segregation: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Algorithmic amplification creates rigid 'Us vs Them' dynamics on web platforms.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Echo Chambers Presence: </a:t>
            </a:r>
            <a:r>
              <a:rPr sz="1100" b="0">
                <a:solidFill>
                  <a:srgbClr val="1F2937"/>
                </a:solidFill>
                <a:latin typeface="Calibri"/>
              </a:rPr>
              <a:t>Empirical data shows 65%+ of discussions occur in isolated clusters, with less than 5% exposure to opposing views.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Need for Quantification: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Manual auditing fails to capture large scale behaviors, making automated cross-platform pipelines necessary.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600" b="1">
                <a:solidFill>
                  <a:srgbClr val="1D4ED8"/>
                </a:solidFill>
                <a:latin typeface="Calibri"/>
              </a:defRPr>
            </a:pPr>
            <a:r>
              <a:t>FORMAL RESEARCH QUESTION (PROBLÉMATIQUE)</a:t>
            </a:r>
          </a:p>
          <a:p>
            <a:pPr algn="ctr">
              <a:defRPr sz="1400" b="1" i="1">
                <a:solidFill>
                  <a:srgbClr val="1F2937"/>
                </a:solidFill>
                <a:latin typeface="Calibri"/>
              </a:defRPr>
            </a:pPr>
            <a:r>
              <a:t>How can we quantify, model topologically, and visualize in an integrated platform the linguistic polarization markers (We vs Them tribal dynamics) and echo chamber boundaries across heterogeneous social media sources?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2. Host Institution: Robert Gordon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School of Computing &amp; Digital Media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Location &amp; Reputation: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Located in Aberdeen, Scotland (Garthdee campus). Ranked top in Scotland for graduate employability.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Applied Research focus: </a:t>
            </a:r>
            <a:r>
              <a:rPr sz="1100" b="0">
                <a:solidFill>
                  <a:srgbClr val="1F2937"/>
                </a:solidFill>
                <a:latin typeface="Calibri"/>
              </a:rPr>
              <a:t>Strong partnerships with international academic networks and tech industries.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Scientific Standards: </a:t>
            </a:r>
            <a:r>
              <a:rPr sz="1100" b="0">
                <a:solidFill>
                  <a:srgbClr val="1F2937"/>
                </a:solidFill>
                <a:latin typeface="Calibri"/>
              </a:rPr>
              <a:t>RGU enforces strict validation frameworks, reproducible data setups, and ethical AI utilization.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NLP &amp; Social Data Science Team</a:t>
            </a:r>
          </a:p>
          <a:p>
            <a:pPr>
              <a:spcBef>
                <a:spcPts val="8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Host Supervisor: </a:t>
            </a:r>
            <a:r>
              <a:rPr sz="1050" b="0">
                <a:solidFill>
                  <a:srgbClr val="1F2937"/>
                </a:solidFill>
                <a:latin typeface="Calibri"/>
              </a:rPr>
              <a:t>Dr. Shahana Bano: Researcher in Natural Language Processing, machine learning, and cybersecurity.</a:t>
            </a:r>
          </a:p>
          <a:p>
            <a:pPr>
              <a:spcBef>
                <a:spcPts val="8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Infrastructure: </a:t>
            </a:r>
            <a:r>
              <a:rPr sz="1050" b="0">
                <a:solidFill>
                  <a:srgbClr val="1F2937"/>
                </a:solidFill>
                <a:latin typeface="Calibri"/>
              </a:rPr>
              <a:t>Access to GPU-accelerated computing nodes for local deep learning inference (transformers, CLIP embeddings).</a:t>
            </a:r>
          </a:p>
          <a:p>
            <a:pPr>
              <a:spcBef>
                <a:spcPts val="8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Collaboration: </a:t>
            </a:r>
            <a:r>
              <a:rPr sz="1050" b="0">
                <a:solidFill>
                  <a:srgbClr val="1F2937"/>
                </a:solidFill>
                <a:latin typeface="Calibri"/>
              </a:rPr>
              <a:t>Participated in weekly research sprints with post-docs and PhD candidates to refine data paradigms.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3. Comparative Solution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Methodological Comparisons &amp; Benchmarks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Data Ingestion: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Official APIs (PRAW/yt-dlp) are flexible but restricted. Pre-compiled Hugging Face datasets ensure high volume and reproducibility.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Sentiment / Toxicity Assessment: </a:t>
            </a:r>
            <a:r>
              <a:rPr sz="1100" b="0">
                <a:solidFill>
                  <a:srgbClr val="1F2937"/>
                </a:solidFill>
                <a:latin typeface="Calibri"/>
              </a:rPr>
              <a:t>Traditional keyword list counting (VADER) returned near-zero correlation coefficients. Google's deep Perspective API captures context, grammar, and intent.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Visual Dashboard Engine: </a:t>
            </a:r>
            <a:r>
              <a:rPr sz="1100" b="0">
                <a:solidFill>
                  <a:srgbClr val="1F2937"/>
                </a:solidFill>
                <a:latin typeface="Calibri"/>
              </a:rPr>
              <a:t>Classic JS/D3.js frontend requires a separate REST backend. Streamlit provides direct Python integration, fast data caching, and native Plotly wrappers.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D4ED8"/>
                </a:solidFill>
                <a:latin typeface="Calibri"/>
              </a:defRPr>
            </a:pPr>
            <a:r>
              <a:t>Benchmark: Keyword Counting vs Deep NLP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22860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/ Method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VADER (Lexical)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Perspective (Deep)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Spearman Correlation (Reddit)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ρ = 0.0148 (p=0.22)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ρ = 0.3842 (p&lt;0.001)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Sarcasm/Slang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Context-Aware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Execution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Ultra-Fast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API Throttled / 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4572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7280"/>
                </a:solidFill>
                <a:latin typeface="Calibri"/>
              </a:defRPr>
            </a:pPr>
            <a:r>
              <a:t>Result: Lexical word lists failed to achieve statistical significance. Context-aware models (Perspective, CLIP) are required to capture true discursive hostility.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4. Ingestion &amp; Preprocessing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Standardisation &amp; Ingestion Flow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Clean and Deduplicate: </a:t>
            </a:r>
            <a:r>
              <a:rPr sz="1100" b="0">
                <a:solidFill>
                  <a:srgbClr val="1F2937"/>
                </a:solidFill>
                <a:latin typeface="Calibri"/>
              </a:rPr>
              <a:t>Removes missing fields and duplicate comments induced by sharing networks.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Language Detection: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Integrates 'langdetect' module to isolate English text ('en'), ensuring downstream model compatibility.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Time Normalisation: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Warp and map Reddit/YouTube timelines into parallel 2018-2026 timelines for synchronization.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D4ED8"/>
                </a:solidFill>
                <a:latin typeface="Calibri"/>
              </a:defRPr>
            </a:pPr>
            <a:r>
              <a:t>Python Clean Pipeline Module</a:t>
            </a:r>
          </a:p>
          <a:p>
            <a:pPr>
              <a:defRPr sz="1050">
                <a:solidFill>
                  <a:srgbClr val="1F2937"/>
                </a:solidFill>
                <a:latin typeface="Courier New"/>
              </a:defRPr>
            </a:pPr>
            <a:r>
              <a:t>def clean_dataset(df):</a:t>
            </a:r>
            <a:br/>
            <a:r>
              <a:t>    # Remove nulls &amp; short texts</a:t>
            </a:r>
            <a:br/>
            <a:r>
              <a:t>    df = df.dropna(subset=['text'])</a:t>
            </a:r>
            <a:br/>
            <a:r>
              <a:t>    df = df[df['text'].str.len() &gt; 3]</a:t>
            </a:r>
            <a:br/>
            <a:br/>
            <a:r>
              <a:t>    # Deduplicate sémantiquement</a:t>
            </a:r>
            <a:br/>
            <a:r>
              <a:t>    df = df.drop_duplicates(subset=['text'])</a:t>
            </a:r>
            <a:br/>
            <a:br/>
            <a:r>
              <a:t>    # Filter language</a:t>
            </a:r>
            <a:br/>
            <a:r>
              <a:t>    df['lang'] = df['text'].apply(safe_detect_lang)</a:t>
            </a:r>
            <a:br/>
            <a:r>
              <a:t>    return df[df['lang'] == 'en']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5. Modality &amp; Topological Graph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Multimodality (CLIP) &amp; Network Topologies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CLIP Zero-Shot Embeddings: </a:t>
            </a:r>
            <a:r>
              <a:rPr sz="1100" b="0">
                <a:solidFill>
                  <a:srgbClr val="1F2937"/>
                </a:solidFill>
                <a:latin typeface="Calibri"/>
              </a:rPr>
              <a:t>Evaluates text-image similarity using OpenAI's CLIP model. Classifies memes into: in-group, out-group, or neutral.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Bipartite Network Models: </a:t>
            </a:r>
            <a:r>
              <a:rPr sz="1100" b="0">
                <a:solidFill>
                  <a:srgbClr val="1F2937"/>
                </a:solidFill>
                <a:latin typeface="Calibri"/>
              </a:rPr>
              <a:t>Constructs bipartite graphs linking users to interaction sources. Prunes degree-1 leaf nodes to keep dense core groups.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Louvain Community Detection: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Maximizes network modularity (Q) to partition nodes into distinct sub-clusters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Underlying Mathematical Models</a:t>
            </a:r>
          </a:p>
          <a:p>
            <a:pPr>
              <a:spcBef>
                <a:spcPts val="6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1. Louvain Modularity Maximisation (Q):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100">
                <a:solidFill>
                  <a:srgbClr val="1F2937"/>
                </a:solidFill>
                <a:latin typeface="Consolas"/>
              </a:defRPr>
            </a:pPr>
            <a:r>
              <a:t>Q = (1 / 2m) * ∑_ij [ A_ij - (k_i * k_j / 2m) ] * δ(c_i, c_j)</a:t>
            </a:r>
          </a:p>
          <a:p>
            <a:pPr>
              <a:defRPr sz="1200" b="1">
                <a:solidFill>
                  <a:srgbClr val="1D4ED8"/>
                </a:solidFill>
                <a:latin typeface="Calibri"/>
              </a:defRPr>
            </a:pPr>
            <a:r>
              <a:t>2. Pronoun-Based Polarization Index (PI_c):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  <a:latin typeface="Consolas"/>
              </a:defRPr>
            </a:pPr>
            <a:r>
              <a:t>PI_c = (Frequency(We) / Frequency(Them)) * Mean_Toxicity_c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6. Technical Challenge &amp; Adaptive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The Reddit API Block (PRAW)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Authentication Block: </a:t>
            </a:r>
            <a:r>
              <a:rPr sz="1100" b="0">
                <a:solidFill>
                  <a:srgbClr val="1F2937"/>
                </a:solidFill>
                <a:latin typeface="Calibri"/>
              </a:rPr>
              <a:t>Strict API access limits and OAuth token rejection by Reddit in week 1 threatened the scraping schedule.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Impact on Timelines: </a:t>
            </a:r>
            <a:r>
              <a:rPr sz="1100" b="0">
                <a:solidFill>
                  <a:srgbClr val="1F2937"/>
                </a:solidFill>
                <a:latin typeface="Calibri"/>
              </a:rPr>
              <a:t>Risked leaving the project without political Reddit data, invalidating the planned cross-platform benchmark.</a:t>
            </a:r>
          </a:p>
          <a:p>
            <a:pPr>
              <a:spcBef>
                <a:spcPts val="800"/>
              </a:spcBef>
              <a:defRPr sz="1200" b="1">
                <a:solidFill>
                  <a:srgbClr val="1D4ED8"/>
                </a:solidFill>
                <a:latin typeface="Calibri"/>
              </a:defRPr>
            </a:pPr>
            <a:r>
              <a:t>• Initial Mitigation: </a:t>
            </a:r>
            <a:r>
              <a:rPr sz="1100" b="0">
                <a:solidFill>
                  <a:srgbClr val="1F2937"/>
                </a:solidFill>
                <a:latin typeface="Calibri"/>
              </a:rPr>
              <a:t>Attempted rate throttling and user agent rotations, which did not resolve the core access refusal.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Adaptive Pivot: Hugging Face Datasets</a:t>
            </a:r>
          </a:p>
          <a:p>
            <a:pPr>
              <a:spcBef>
                <a:spcPts val="8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Dynamic Integration: </a:t>
            </a:r>
            <a:r>
              <a:rPr sz="1050" b="0">
                <a:solidFill>
                  <a:srgbClr val="1F2937"/>
                </a:solidFill>
                <a:latin typeface="Calibri"/>
              </a:rPr>
              <a:t>Switched to pre-compiled, peer-reviewed academic datasets hosted on Hugging Face (e.g., mo-mittal/reddit_political_subs).</a:t>
            </a:r>
          </a:p>
          <a:p>
            <a:pPr>
              <a:spcBef>
                <a:spcPts val="8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Timeline Alignment: </a:t>
            </a:r>
            <a:r>
              <a:rPr sz="1050" b="0">
                <a:solidFill>
                  <a:srgbClr val="1F2937"/>
                </a:solidFill>
                <a:latin typeface="Calibri"/>
              </a:rPr>
              <a:t>Filtered and synchronized dataset timestamps to match the 2018-2026 timeline of the YouTube comments.</a:t>
            </a:r>
          </a:p>
          <a:p>
            <a:pPr>
              <a:spcBef>
                <a:spcPts val="8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Key Learning: </a:t>
            </a:r>
            <a:r>
              <a:rPr sz="1050" b="0">
                <a:solidFill>
                  <a:srgbClr val="1F2937"/>
                </a:solidFill>
                <a:latin typeface="Calibri"/>
              </a:rPr>
              <a:t>Demonstrated Agile adaptability in the face of API blocks, prioritizing project continuity and statistical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7. Empirical Results &amp; Visual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Key Empirical Discoveries</a:t>
            </a:r>
          </a:p>
          <a:p>
            <a:pPr>
              <a:spcBef>
                <a:spcPts val="500"/>
              </a:spcBef>
              <a:defRPr sz="1120" b="1">
                <a:solidFill>
                  <a:srgbClr val="1F2937"/>
                </a:solidFill>
                <a:latin typeface="Calibri"/>
              </a:defRPr>
            </a:pPr>
            <a:r>
              <a:t>• Lexical Baseline Failure: Spearman rank correlation between negative word counts and engagement was near zero (0.0148 on Reddit, 0.0050 on YouTube).</a:t>
            </a:r>
          </a:p>
          <a:p>
            <a:pPr>
              <a:spcBef>
                <a:spcPts val="500"/>
              </a:spcBef>
              <a:defRPr sz="1120" b="1">
                <a:solidFill>
                  <a:srgbClr val="1F2937"/>
                </a:solidFill>
                <a:latin typeface="Calibri"/>
              </a:defRPr>
            </a:pPr>
            <a:r>
              <a:t>• Echo Chamber Modularity: The merged cross-platform network yielded modularity Q = 0.6039 across 574 core nodes and 1188 edges, proving severe community partitioning.</a:t>
            </a:r>
          </a:p>
          <a:p>
            <a:pPr>
              <a:spcBef>
                <a:spcPts val="500"/>
              </a:spcBef>
              <a:defRPr sz="1120">
                <a:solidFill>
                  <a:srgbClr val="1F2937"/>
                </a:solidFill>
                <a:latin typeface="Calibri"/>
              </a:defRPr>
            </a:pPr>
            <a:r>
              <a:t>• Tribalism &amp; Toxicity: Active partisan clusters (Alt-Right, Far-Left) exhibit elevated We/Them ratios (&gt;= 1.0) correlating with higher Perspective toxicity.</a:t>
            </a:r>
          </a:p>
          <a:p>
            <a:pPr>
              <a:spcBef>
                <a:spcPts val="500"/>
              </a:spcBef>
              <a:defRPr sz="1120" b="1">
                <a:solidFill>
                  <a:srgbClr val="1F2937"/>
                </a:solidFill>
                <a:latin typeface="Calibri"/>
              </a:defRPr>
            </a:pPr>
            <a:r>
              <a:t>• Cross-Platform Contrast: Reddit shows distinct in-group/out-group language spikes, whereas YouTube comment threads show higher baseline toxicity.</a:t>
            </a:r>
          </a:p>
        </p:txBody>
      </p:sp>
      <p:pic>
        <p:nvPicPr>
          <p:cNvPr id="6" name="Picture 5" descr="cluster_polariz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1031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384048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Community Cluster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We/Them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Toxicity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Polar. Idx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D4ED8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Cluster 1 (Progressive Net.)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Cluster 3 (Alt-Right Chamber)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Cluster 5 (Far-Left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Cluster 7 (Local Politics)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Cluster 2 (Mainstream Media)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5989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B7280"/>
                </a:solidFill>
                <a:latin typeface="Calibri"/>
              </a:defRPr>
            </a:pPr>
            <a:r>
              <a:t>Figure &amp; Table: Polarization index heatmap (top) and community polarization statistics (bottom).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Calibri"/>
              </a:defRPr>
            </a:pPr>
            <a:r>
              <a:t>8. BUT Skills &amp; Critical Reflection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BUT2 Internship Defense | Milan Loi | Slide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BUT Skill Self-Evaluation</a:t>
            </a:r>
          </a:p>
          <a:p>
            <a:pPr>
              <a:spcBef>
                <a:spcPts val="400"/>
              </a:spcBef>
              <a:defRPr sz="1100" b="1">
                <a:solidFill>
                  <a:srgbClr val="1D4ED8"/>
                </a:solidFill>
                <a:latin typeface="Calibri"/>
              </a:defRPr>
            </a:pPr>
            <a:r>
              <a:t>• Compétence 1 (Développement): </a:t>
            </a:r>
            <a:r>
              <a:rPr sz="1000" b="0">
                <a:solidFill>
                  <a:srgbClr val="1F2937"/>
                </a:solidFill>
                <a:latin typeface="Calibri"/>
              </a:rPr>
              <a:t>2.5 -&gt; 4.5 | Structured modules, environment isolation, Git versioning.</a:t>
            </a:r>
          </a:p>
          <a:p>
            <a:pPr>
              <a:spcBef>
                <a:spcPts val="400"/>
              </a:spcBef>
              <a:defRPr sz="1100" b="1">
                <a:solidFill>
                  <a:srgbClr val="1D4ED8"/>
                </a:solidFill>
                <a:latin typeface="Calibri"/>
              </a:defRPr>
            </a:pPr>
            <a:r>
              <a:t>• Compétence 2 (Optimisation): </a:t>
            </a:r>
            <a:r>
              <a:rPr sz="1000" b="0">
                <a:solidFill>
                  <a:srgbClr val="1F2937"/>
                </a:solidFill>
                <a:latin typeface="Calibri"/>
              </a:rPr>
              <a:t>2.0 -&gt; 4.0 | Configured MPS hardware acceleration for CLIP, WebGL Scattergl for Plotly rendering.</a:t>
            </a:r>
          </a:p>
          <a:p>
            <a:pPr>
              <a:spcBef>
                <a:spcPts val="400"/>
              </a:spcBef>
              <a:defRPr sz="1100" b="1">
                <a:solidFill>
                  <a:srgbClr val="1D4ED8"/>
                </a:solidFill>
                <a:latin typeface="Calibri"/>
              </a:defRPr>
            </a:pPr>
            <a:r>
              <a:t>• Compétence 3 (Données): </a:t>
            </a:r>
            <a:r>
              <a:rPr sz="1000" b="0">
                <a:solidFill>
                  <a:srgbClr val="1F2937"/>
                </a:solidFill>
                <a:latin typeface="Calibri"/>
              </a:rPr>
              <a:t>3.0 -&gt; 4.5 | Engineered 3-tier schemas under Pandas, GML exports, Louvain network partitioning.</a:t>
            </a:r>
          </a:p>
          <a:p>
            <a:pPr>
              <a:spcBef>
                <a:spcPts val="400"/>
              </a:spcBef>
              <a:defRPr sz="1100" b="1">
                <a:solidFill>
                  <a:srgbClr val="1D4ED8"/>
                </a:solidFill>
                <a:latin typeface="Calibri"/>
              </a:defRPr>
            </a:pPr>
            <a:r>
              <a:t>• Compétence 5 (Conduite de Projet): </a:t>
            </a:r>
            <a:r>
              <a:rPr sz="1000" b="0">
                <a:solidFill>
                  <a:srgbClr val="1F2937"/>
                </a:solidFill>
                <a:latin typeface="Calibri"/>
              </a:rPr>
              <a:t>2.0 -&gt; 4.0 | Applied Agile timeline iterations, managed weekly supervisor report reviews.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608015" cy="457200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D4ED8"/>
                </a:solidFill>
                <a:latin typeface="Calibri"/>
              </a:defRPr>
            </a:pPr>
            <a:r>
              <a:t>Career Impact &amp; AI Sources Disclosure</a:t>
            </a:r>
          </a:p>
          <a:p>
            <a:pPr>
              <a:spcBef>
                <a:spcPts val="6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Career Path Pursuit: </a:t>
            </a:r>
            <a:r>
              <a:rPr sz="1050" b="0">
                <a:solidFill>
                  <a:srgbClr val="1F2937"/>
                </a:solidFill>
                <a:latin typeface="Calibri"/>
              </a:rPr>
              <a:t>Strengthened my ambition to pursue an engineering school or a research Master's degree in Artificial Intelligence and Big Data.</a:t>
            </a:r>
          </a:p>
          <a:p>
            <a:pPr>
              <a:spcBef>
                <a:spcPts val="6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AI Utilization Tool: </a:t>
            </a:r>
            <a:r>
              <a:rPr sz="1050" b="0">
                <a:solidFill>
                  <a:srgbClr val="1F2937"/>
                </a:solidFill>
                <a:latin typeface="Calibri"/>
              </a:rPr>
              <a:t>Antigravity IDE (Gemini 3.5 model) was used for syntax lookup (Streamlit CSS overrides, Plotly layouts) and orthographic checking.</a:t>
            </a:r>
          </a:p>
          <a:p>
            <a:pPr>
              <a:spcBef>
                <a:spcPts val="6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• Intellectual Integrity: </a:t>
            </a:r>
            <a:r>
              <a:rPr sz="1050" b="0">
                <a:solidFill>
                  <a:srgbClr val="1F2937"/>
                </a:solidFill>
                <a:latin typeface="Calibri"/>
              </a:rPr>
              <a:t>All core code, math indices, community partitions, and texts are 100% human intellectual contributions (&lt;15% assistance).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1659</Words>
  <Application>Microsoft Macintosh PowerPoint</Application>
  <PresentationFormat>Grand écran</PresentationFormat>
  <Paragraphs>135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 Loi</cp:lastModifiedBy>
  <cp:revision>2</cp:revision>
  <dcterms:created xsi:type="dcterms:W3CDTF">2013-01-27T09:14:16Z</dcterms:created>
  <dcterms:modified xsi:type="dcterms:W3CDTF">2026-06-08T12:41:32Z</dcterms:modified>
  <cp:category/>
</cp:coreProperties>
</file>